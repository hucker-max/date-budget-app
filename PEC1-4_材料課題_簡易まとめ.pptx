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
</Relationships>
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PEC1-4のリサーチ結果と材料課題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1"/>
            <a:r>
              <a:rPr lang="ja-JP" sz="2200"/>
              <a:t>卒業研究向け 簡易まとめ</a:t>
            </a:r>
          </a:p>
          <a:p>
            <a:pPr lvl="1"/>
            <a:r>
              <a:rPr lang="ja-JP" sz="2200"/>
              <a:t>2026-04-16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1. PEC1-4で技術として何をしたいか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PEC-1: ネットワーク側の光化</a:t>
            </a:r>
          </a:p>
          <a:p>
            <a:pPr lvl="1"/>
            <a:r>
              <a:rPr lang="ja-JP" sz="2200"/>
              <a:t>データセンター間・サーバ間を低遅延・大容量・低消費電力でつなぎたい</a:t>
            </a:r>
          </a:p>
          <a:p/>
          <a:p>
            <a:pPr lvl="0"/>
            <a:r>
              <a:rPr lang="ja-JP" sz="2200"/>
              <a:t>PEC-2: ボード間の光化</a:t>
            </a:r>
          </a:p>
          <a:p>
            <a:pPr lvl="1"/>
            <a:r>
              <a:rPr lang="ja-JP" sz="2200"/>
              <a:t>Switch ASIC近傍まで optical engine を寄せて、装置内の通信電力を下げたい</a:t>
            </a:r>
          </a:p>
          <a:p/>
          <a:p>
            <a:pPr lvl="0"/>
            <a:r>
              <a:rPr lang="ja-JP" sz="2200"/>
              <a:t>PEC-3: パッケージ間の光化</a:t>
            </a:r>
          </a:p>
          <a:p>
            <a:pPr lvl="1"/>
            <a:r>
              <a:rPr lang="ja-JP" sz="2200"/>
              <a:t>半導体パッケージ間を高密度・低消費電力でつなぎたい</a:t>
            </a:r>
          </a:p>
          <a:p/>
          <a:p>
            <a:pPr lvl="0"/>
            <a:r>
              <a:rPr lang="ja-JP" sz="2200"/>
              <a:t>PEC-4: ダイ間・チップ内の光化</a:t>
            </a:r>
          </a:p>
          <a:p>
            <a:pPr lvl="1"/>
            <a:r>
              <a:rPr lang="ja-JP" sz="2200"/>
              <a:t>die-to-die / intra-chip まで光を入れて、計算機内部構造を変えたい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2. PEC-1 / PEC-2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PEC-1でやりたいこと</a:t>
            </a:r>
          </a:p>
          <a:p>
            <a:pPr lvl="1"/>
            <a:r>
              <a:rPr lang="ja-JP" sz="2200"/>
              <a:t>長距離伝送を低損失・大容量で成立させる</a:t>
            </a:r>
          </a:p>
          <a:p>
            <a:pPr lvl="1"/>
            <a:r>
              <a:rPr lang="ja-JP" sz="2200"/>
              <a:t>想定材料: 石英ファイバ、シリカ PLC / AWG、Si フォトニクス、InP 系</a:t>
            </a:r>
          </a:p>
          <a:p>
            <a:pPr lvl="1"/>
            <a:r>
              <a:rPr lang="ja-JP" sz="2200"/>
              <a:t>材料課題: 伝送損失、波長分離、耐湿・耐熱、長期安定性</a:t>
            </a:r>
          </a:p>
          <a:p/>
          <a:p>
            <a:pPr lvl="0"/>
            <a:r>
              <a:rPr lang="ja-JP" sz="2200"/>
              <a:t>PEC-2でやりたいこと</a:t>
            </a:r>
          </a:p>
          <a:p>
            <a:pPr lvl="1"/>
            <a:r>
              <a:rPr lang="ja-JP" sz="2200"/>
              <a:t>ボード間配線を光化し、装置内通信の電力を下げる</a:t>
            </a:r>
          </a:p>
          <a:p>
            <a:pPr lvl="1"/>
            <a:r>
              <a:rPr lang="ja-JP" sz="2200"/>
              <a:t>想定材料: Si / SiO2 / InP / InGaAlAs、SiOx 導波路、コネクタ・接着材</a:t>
            </a:r>
          </a:p>
          <a:p>
            <a:pPr lvl="1"/>
            <a:r>
              <a:rPr lang="ja-JP" sz="2200"/>
              <a:t>材料課題: 熱、接合、アライメント、コネクタ小型化、近接実装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3. PEC-3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PEC-3でやりたいこと</a:t>
            </a:r>
          </a:p>
          <a:p>
            <a:pPr lvl="1"/>
            <a:r>
              <a:rPr lang="ja-JP" sz="2200"/>
              <a:t>package-to-package 光接続を成立させる</a:t>
            </a:r>
          </a:p>
          <a:p/>
          <a:p>
            <a:pPr lvl="0"/>
            <a:r>
              <a:rPr lang="ja-JP" sz="2200"/>
              <a:t>材料スタックの見方</a:t>
            </a:r>
          </a:p>
          <a:p>
            <a:pPr lvl="1"/>
            <a:r>
              <a:rPr lang="ja-JP" sz="2200"/>
              <a:t>Si フォトニクス光回路 / InP 系膜型活性層 / クラッド / 放熱層 / 接着・封止材</a:t>
            </a:r>
          </a:p>
          <a:p/>
          <a:p>
            <a:pPr lvl="0"/>
            <a:r>
              <a:rPr lang="ja-JP" sz="2200"/>
              <a:t>材料課題</a:t>
            </a:r>
          </a:p>
          <a:p>
            <a:pPr lvl="1"/>
            <a:r>
              <a:rPr lang="ja-JP" sz="2200"/>
              <a:t>熱で光結合が変わる</a:t>
            </a:r>
          </a:p>
          <a:p>
            <a:pPr lvl="1"/>
            <a:r>
              <a:rPr lang="ja-JP" sz="2200"/>
              <a:t>反りでアライメントがずれる</a:t>
            </a:r>
          </a:p>
          <a:p>
            <a:pPr lvl="1"/>
            <a:r>
              <a:rPr lang="ja-JP" sz="2200"/>
              <a:t>1310 / 1550nm 損失が効く</a:t>
            </a:r>
          </a:p>
          <a:p>
            <a:pPr lvl="1"/>
            <a:r>
              <a:rPr lang="ja-JP" sz="2200"/>
              <a:t>リフロー・熱サイクル・量産性が支配的</a:t>
            </a:r>
          </a:p>
          <a:p/>
          <a:p>
            <a:pPr lvl="0"/>
            <a:r>
              <a:rPr lang="ja-JP" sz="2200"/>
              <a:t>研究の主戦場</a:t>
            </a:r>
          </a:p>
          <a:p>
            <a:pPr lvl="1"/>
            <a:r>
              <a:rPr lang="ja-JP" sz="2200"/>
              <a:t>熱・反り・光損失・信頼性を同時に見る必要がある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4. PEC-4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PEC-4でやりたいこと</a:t>
            </a:r>
          </a:p>
          <a:p>
            <a:pPr lvl="1"/>
            <a:r>
              <a:rPr lang="ja-JP" sz="2200"/>
              <a:t>die-to-die / chip内 optical layer を成立させる</a:t>
            </a:r>
          </a:p>
          <a:p/>
          <a:p>
            <a:pPr lvl="0"/>
            <a:r>
              <a:rPr lang="ja-JP" sz="2200"/>
              <a:t>仮説的な材料スタック</a:t>
            </a:r>
          </a:p>
          <a:p>
            <a:pPr lvl="1"/>
            <a:r>
              <a:rPr lang="ja-JP" sz="2200"/>
              <a:t>Si / SiN 導波路、InP 薄膜 or Ge / Si、低k / クラッド、Cu / SiCN bonding、熱拡散材</a:t>
            </a:r>
          </a:p>
          <a:p/>
          <a:p>
            <a:pPr lvl="0"/>
            <a:r>
              <a:rPr lang="ja-JP" sz="2200"/>
              <a:t>材料課題</a:t>
            </a:r>
          </a:p>
          <a:p>
            <a:pPr lvl="1"/>
            <a:r>
              <a:rPr lang="ja-JP" sz="2200"/>
              <a:t>bonding の位置ずれ・接合信頼性</a:t>
            </a:r>
          </a:p>
          <a:p>
            <a:pPr lvl="1"/>
            <a:r>
              <a:rPr lang="ja-JP" sz="2200"/>
              <a:t>optical layer と electrical layer の熱干渉</a:t>
            </a:r>
          </a:p>
          <a:p>
            <a:pPr lvl="1"/>
            <a:r>
              <a:rPr lang="ja-JP" sz="2200"/>
              <a:t>長期信頼性、応力、封止</a:t>
            </a:r>
          </a:p>
          <a:p/>
          <a:p>
            <a:pPr lvl="0"/>
            <a:r>
              <a:rPr lang="ja-JP" sz="2200"/>
              <a:t>見立て</a:t>
            </a:r>
          </a:p>
          <a:p>
            <a:pPr lvl="1"/>
            <a:r>
              <a:rPr lang="ja-JP" sz="2200"/>
              <a:t>全面光化より、I/O タイル起点の部分光化が自然そう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5. MGC材料への引きつけ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OPE</a:t>
            </a:r>
          </a:p>
          <a:p>
            <a:pPr lvl="1"/>
            <a:r>
              <a:rPr lang="ja-JP" sz="2200"/>
              <a:t>高温耐性・CTE は比較的強い</a:t>
            </a:r>
          </a:p>
          <a:p>
            <a:pPr lvl="1"/>
            <a:r>
              <a:rPr lang="ja-JP" sz="2200"/>
              <a:t>ただし 1310 / 1550nm の導波路損失が不明</a:t>
            </a:r>
          </a:p>
          <a:p/>
          <a:p>
            <a:pPr lvl="0"/>
            <a:r>
              <a:rPr lang="ja-JP" sz="2200"/>
              <a:t>BT樹脂系</a:t>
            </a:r>
          </a:p>
          <a:p>
            <a:pPr lvl="1"/>
            <a:r>
              <a:rPr lang="ja-JP" sz="2200"/>
              <a:t>基板材料として有望</a:t>
            </a:r>
          </a:p>
          <a:p>
            <a:pPr lvl="1"/>
            <a:r>
              <a:rPr lang="ja-JP" sz="2200"/>
              <a:t>ただし反り・剥離・光学損失データが不足</a:t>
            </a:r>
          </a:p>
          <a:p/>
          <a:p>
            <a:pPr lvl="0"/>
            <a:r>
              <a:rPr lang="ja-JP" sz="2200"/>
              <a:t>ユピゼータEP</a:t>
            </a:r>
          </a:p>
          <a:p>
            <a:pPr lvl="1"/>
            <a:r>
              <a:rPr lang="ja-JP" sz="2200"/>
              <a:t>光学部材・光学樹脂候補</a:t>
            </a:r>
          </a:p>
          <a:p>
            <a:pPr lvl="1"/>
            <a:r>
              <a:rPr lang="ja-JP" sz="2200"/>
              <a:t>ただし耐熱・近赤外・CTE の定量データが不足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ja-JP" sz="2800" b="1"/>
              <a:t>6. 研究としての着地点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341120"/>
            <a:ext cx="7924800" cy="4434840"/>
          </a:xfrm>
        </p:spPr>
        <p:txBody>
          <a:bodyPr wrap="square"/>
          <a:lstStyle/>
          <a:p>
            <a:pPr lvl="0"/>
            <a:r>
              <a:rPr lang="ja-JP" sz="2200"/>
              <a:t>技術としてやりたいこと</a:t>
            </a:r>
          </a:p>
          <a:p>
            <a:pPr lvl="1"/>
            <a:r>
              <a:rPr lang="ja-JP" sz="2200"/>
              <a:t>光電融合を、よりコンピュータの近くまで持ち込む</a:t>
            </a:r>
          </a:p>
          <a:p/>
          <a:p>
            <a:pPr lvl="0"/>
            <a:r>
              <a:rPr lang="ja-JP" sz="2200"/>
              <a:t>材料研究としての問い</a:t>
            </a:r>
          </a:p>
          <a:p>
            <a:pPr lvl="1"/>
            <a:r>
              <a:rPr lang="ja-JP" sz="2200"/>
              <a:t>どの材料が PEC-3 のどの役割を担えるか</a:t>
            </a:r>
          </a:p>
          <a:p>
            <a:pPr lvl="1"/>
            <a:r>
              <a:rPr lang="ja-JP" sz="2200"/>
              <a:t>何のデータが足りないと最終判断できないか</a:t>
            </a:r>
          </a:p>
          <a:p/>
          <a:p>
            <a:pPr lvl="0"/>
            <a:r>
              <a:rPr lang="ja-JP" sz="2200"/>
              <a:t>今後の評価軸</a:t>
            </a:r>
          </a:p>
          <a:p>
            <a:pPr lvl="1"/>
            <a:r>
              <a:rPr lang="ja-JP" sz="2200"/>
              <a:t>260℃リフロー耐性 / 1310・1550nm 損失 / CTE・寸法安定性</a:t>
            </a:r>
          </a:p>
          <a:p/>
          <a:p>
            <a:pPr lvl="0"/>
            <a:r>
              <a:rPr lang="ja-JP" sz="2200"/>
              <a:t>次にやること</a:t>
            </a:r>
          </a:p>
          <a:p>
            <a:pPr lvl="1"/>
            <a:r>
              <a:rPr lang="ja-JP" sz="2200"/>
              <a:t>公開エビデンス比較と、評価項目-測定方法の対応づけ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6</vt:i4>
      </vt:variant>
    </vt:vector>
  </HeadingPairs>
  <TitlesOfParts>
    <vt:vector size="6" baseType="lpstr"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PEC1-4のリサーチ結果と材料課題</dc:title>
  <dc:creator>OpenAI Codex</dc:creator>
  <cp:lastModifiedBy>OpenAI Codex</cp:lastModifiedBy>
  <dcterms:created xsi:type="dcterms:W3CDTF">2026-04-16T10:00:00Z</dcterms:created>
  <dcterms:modified xsi:type="dcterms:W3CDTF">2026-04-16T10:00:00Z</dcterms:modified>
</cp:coreProperties>
</file>